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7B0F6-E0B2-4835-AA28-7767946F9686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89CE4-5466-411B-A1E1-187989821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3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0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46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59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92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1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581" y="2198985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38BDF8"/>
                </a:solidFill>
                <a:latin typeface="Calibri"/>
              </a:defRPr>
            </a:pPr>
            <a:r>
              <a:rPr dirty="0"/>
              <a:t>EMPLOYEE ATTRITION</a:t>
            </a:r>
            <a:br>
              <a:rPr dirty="0"/>
            </a:br>
            <a:r>
              <a:rPr dirty="0"/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3570585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0D9488"/>
                </a:solidFill>
                <a:latin typeface="Calibri"/>
              </a:defRPr>
            </a:pPr>
            <a:r>
              <a:rPr dirty="0"/>
              <a:t>Proactive Human Capital Retention using Machine Learning &amp;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4614148"/>
            <a:ext cx="103327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Prepared by: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Anuj Kumar Maurya</a:t>
            </a:r>
            <a:endParaRPr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June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48D4C3-A16D-314E-DEA7-BFD7F09A1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65" y="-56912"/>
            <a:ext cx="4475269" cy="1931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3426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mployee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ttrition incurs significant financial and operational damage to modern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Voluntary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HR strategies are reactive—sentiment is measured through rear-view exit interviews and periodic surveys, failing to flag early-stage exit risks.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implications accumulate through multiple costly channels: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Direct Costs: Recruitment advertising, screening, and agency fees.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Onboarding &amp; Training: Resource-intensive learning curves for new hires.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Opportunity Costs: Reduced productivity and project delays in vacant roles.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Cultural Disruption: Team instability leading to cascading turnover.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Build an analytical, predictive system that identifies at-risk employees and highlights negative workplace drivers to enable preemptive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322006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20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rPr dirty="0"/>
              <a:t>THE REPLACEMENT COST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59E0B"/>
                </a:solidFill>
                <a:latin typeface="Calibri"/>
              </a:defRPr>
            </a:pPr>
            <a:r>
              <a:rPr dirty="0"/>
              <a:t>50% - 200%</a:t>
            </a:r>
          </a:p>
          <a:p>
            <a:pPr algn="ctr"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of an employee's annual salary is required to replace them, depending on their specialization level.</a:t>
            </a:r>
            <a:br>
              <a:rPr dirty="0"/>
            </a:br>
            <a:br>
              <a:rPr dirty="0"/>
            </a:br>
            <a:r>
              <a:rPr dirty="0"/>
              <a:t>Preemptive retention strategies preserve institutional knowledge and save substantial corporate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370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Develop a Robust Preprocessing Pipeline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Establish an automated data pipeline to clean records, drop useless constants, clip numerical outliers, standardize scales, and encode categorical data.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Address Class Imbalance via SMOTE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Apply Synthetic Minority Over-sampling Technique to training features to resolve the majority-class bias towards staying employees (16% attrition baseline).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Benchmarking Baseline Classifier Algorithms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Train and optimize four classifiers: Logistic Regression, Linear Regression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Random Forest, and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Highlight Key Attrition Drivers &amp; Interpretability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Rank feature importances and interpret coefficients to provide actionable insights for management (burnout, compensation benchmarks).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Create Interactive Deployment Portal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Build a responsive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allowing HR professionals to run real-time predictions and simulate retention adjustments.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5875757" cy="4165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study utilizes the IBM HR Analytics Employee Attrition &amp; Performance dataset.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1,470 employee records across 35 attributes. Target variable is Attrition (Yes/No).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Space Dimensions: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Profile: Age, Gender,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MaritalStatus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Education,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EducationField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Work Character &amp; History: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BusinessTravel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Department,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JobRole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JobLevel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JobInvolvement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NumCompaniesWorked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YearsSinceLastPromotion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Environment &amp; Satisfaction: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WorkLifeBalance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DistanceFromHome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Compensation &amp; Training: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DailyRate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HourlyRate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PercentSalaryHike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StockOptionLevel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TrainingTimesLastYear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PerformanceRating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is highly imbalanced: 83.9% Stayed (1,233 records) vs 16.1% Left (237 records).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0735" y="1371600"/>
            <a:ext cx="4469440" cy="3692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35024"/>
            <a:ext cx="6446029" cy="4411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the standard Machine Learning Lifecycle: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 Read and stream CSV files securely.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Preprocessing: Handle duplicates, constant columns, and clip outlier bounds.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Engineering: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(Scaling and One-Hot Encoding).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Data Balancing: Over-sampling minority classes using SMOTE.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Model Training: Train baselines on balanced sets.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Evaluation: Analyze Precision-Recall tradeoffs.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Deployment: Serialize model assets and launch interactive simulation dashboard.</a:t>
            </a:r>
          </a:p>
        </p:txBody>
      </p:sp>
      <p:pic>
        <p:nvPicPr>
          <p:cNvPr id="6" name="Picture 5" descr="preprocess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98" y="1335024"/>
            <a:ext cx="4016477" cy="4016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Data Preprocessing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26364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clean mathematical gradients, raw data is passed through a unified pipeline: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Duplicate Elimination: Validated zero duplicates.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Useless Column Dropping: Columns with zero variance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EmployeeCount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StandardHours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Over18) and unique identifiers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EmployeeNumber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removed.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Outlier Treatment (IQR Capping): Continuous variables (e.g.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capped at Q3 + 1.5 * IQR to prevent skewing linear models.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Numerical Standardization: Z-score scaling standardizes features to center mean=0 and variance=1.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Categorical One-Hot Encoding: Columns (e.g. Department,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dummy encoded. Drop='first' is applied to prevent multicollinearity (dummy variable trap).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Training Split: 80% Train / 20% Test stratified split.</a:t>
            </a:r>
          </a:p>
        </p:txBody>
      </p:sp>
      <p:pic>
        <p:nvPicPr>
          <p:cNvPr id="6" name="Picture 5" descr="feature_engineer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33" y="1253613"/>
            <a:ext cx="4036142" cy="4036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EDA - Demographic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411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employee demographics reveals a clear correlation between age and attrition rates: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Early-career employees (ages 18-30) demonstrate a disproportionately higher attrition rate.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attrition likelihood drops steadily as employee age increases, stabilizing above age 35.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Implications: Early integration, career path alignment, and mentorship are critical for junior staff retention.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stacked age distribution shows a high density of leaving employees peaking around age 28-31.</a:t>
            </a:r>
          </a:p>
        </p:txBody>
      </p:sp>
      <p:pic>
        <p:nvPicPr>
          <p:cNvPr id="6" name="Picture 5" descr="age_vs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16" y="1463040"/>
            <a:ext cx="4871884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EDA - Workload &amp; Compensation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6868815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 and monthly income represent the two strongest operational indicators of exit behavior: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Overtime Impact: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Employees working overtime experience an attrition rate of nearly 30%, compared to only 10% for non-overtime staff.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This signals a strong relationship between workload, fatigue, and resignation.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Income Distribution: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At-risk employees are concentrated heavily in lower-income brackets (below $3,000/month).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High-income brackets (above $10,000/month) exhibit extremely stable retention rates.</a:t>
            </a:r>
          </a:p>
        </p:txBody>
      </p:sp>
      <p:pic>
        <p:nvPicPr>
          <p:cNvPr id="6" name="Picture 5" descr="overtime_vs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58" y="1283108"/>
            <a:ext cx="3151917" cy="2251369"/>
          </a:xfrm>
          <a:prstGeom prst="rect">
            <a:avLst/>
          </a:prstGeom>
        </p:spPr>
      </p:pic>
      <p:pic>
        <p:nvPicPr>
          <p:cNvPr id="7" name="Picture 6" descr="income_vs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487" y="3840480"/>
            <a:ext cx="3218688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Classification Algorithms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14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baseline models and pick the optimal predictor, we evaluated four algorithms: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Logistic Regression: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Models the log-odds of attrition using the sigmoid function. Highly interpretable coefficients.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Linear Regression (Thresholded):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Ordinary Least Squares regressor fitted on {0, 1} targets. Continuous outputs are clipped to [0,1] and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0.5. Acts as a baseline linear hyperplane classifier.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Random Forest Classifier: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bagging of 150 independent decision trees. Captures non-linear feature splits and reduces variance.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Classifier (Extreme Gradient Boosting):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Sequential gradient boosting that trains trees to predict residuals of predecessor ensembles. Incorporates L1 and L2 regularization to prevent overfitting.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System Workflow &amp;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524686" cy="3775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Handling Class Imbalance: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With 16% attrition, standard classifiers optimize for overall accuracy by defaulting to 'No Attrition' (high accuracy, zero recall).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SMOTE is applied only to the processed training split, generating synthetic minority samples to create a balanced 50/50 training set.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Preprocessor &amp; Model Serialization: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Fitted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trained models are serialized using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Dynamic Inference Pipeline: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New simulation records are sent to the preprocessor pipeline and then mapped to the active model for attrition risk classification.</a:t>
            </a:r>
          </a:p>
        </p:txBody>
      </p:sp>
      <p:pic>
        <p:nvPicPr>
          <p:cNvPr id="6" name="Picture 5" descr="model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10" y="1371600"/>
            <a:ext cx="3898490" cy="3898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Results -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5541461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on Unseen Test Set: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overall Accuracy (87.76%) and Precision (76.19%).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Linear models (Logistic &amp; Linear Regression) achieved the highest Recall (~68% and ~64% respectively).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accuracy-recall trade-off is critical in HR: linear models act as better early warning alerts, while ensemble models make fewer false alerts.</a:t>
            </a:r>
          </a:p>
        </p:txBody>
      </p:sp>
      <p:pic>
        <p:nvPicPr>
          <p:cNvPr id="6" name="Picture 5" descr="model_comparis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16" y="1371600"/>
            <a:ext cx="4948084" cy="2698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Results - Evaluation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001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ROC-AUC Performance: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All four models clustered closely in ROC space (AUC ranging from 0.776 to 0.798).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with AUC = 0.7983.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HR Error Cost Tradeoff: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False Negatives (missing a leaving employee) are highly costly due to replacement costs.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False Positives (flagging a staying employee) simply result in supportive check-ins.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high-recall model (like Logistic Regression) is ideal for employee intervention programs.</a:t>
            </a:r>
          </a:p>
        </p:txBody>
      </p:sp>
      <p:pic>
        <p:nvPicPr>
          <p:cNvPr id="6" name="Picture 5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Feature Importance &amp; SHAP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360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features were analyzed across all classifiers: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Overtime Status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OverTime_Yes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single most dominant positive predictor of attrition, reflecting workload and burnout.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Income and Experience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Strongly negative predictors; higher wages and organizational tenure correlate with stability.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Demographics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MaritalStatus_Single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Single status is positively correlated with attrition.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Role Specifics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JobRole_SalesRepresentative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Sales roles show elevated turnover compared to others.</a:t>
            </a:r>
          </a:p>
        </p:txBody>
      </p:sp>
      <p:pic>
        <p:nvPicPr>
          <p:cNvPr id="6" name="Picture 5" descr="shap_summar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System Deployment - Streamlit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052738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models are deployed as an interactive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dashboard: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Sidebar Controls: HR professionals select the classification model (e.g.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Regression) and toggle Light/Dark color themes.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Parameters Inputs: Slider controls and select fields are grouped in a clean grid to easily construct employee profile simulations.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Dynamic Styling: Theme engine dynamically updates CSS colors based on user sidebar selections (Slate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slate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background,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cards).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30064" y="1371601"/>
            <a:ext cx="4430417" cy="2492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Deployment - Real-Time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4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Simulated Inference: Gathers active slider values, converts inputs to a single-row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matches training column order, and executes preprocessing.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Risk Classification: Predicts exit probability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Actionable Outputs: Renders color-coded warning alert cards (red gradient for risk, green for stable) detailing active risk coefficients.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Intervention Indicators: Focuses managers on specific trigger items (such as overtime status) to construct targeted retention programs.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Conclusion &amp;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036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Successfully transitioned HR operations from reactive post-exit reporting to proactive risk classification.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Standardized pipelines and SMOTE balancing ensure robust classification on highly imbalanced datasets.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Recommending Logistic Regression for alert filters (high recall), and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overall audit reports.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Survival Analysis: Transition to Cox Proportional Hazards to predict *when* an employee will leave, not just if.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Qualitative Sentiment Analysis: Integrate NLP algorithms to analyze Slack/Teams messaging metadata and exit text transcripts.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API Decoupling: Package the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as RESTful microservices to load directly into ERP systems like Workday or SAP.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1819</Words>
  <Application>Microsoft Office PowerPoint</Application>
  <PresentationFormat>Widescreen</PresentationFormat>
  <Paragraphs>153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nikhil maurya</cp:lastModifiedBy>
  <cp:revision>2</cp:revision>
  <dcterms:created xsi:type="dcterms:W3CDTF">2013-01-27T09:14:16Z</dcterms:created>
  <dcterms:modified xsi:type="dcterms:W3CDTF">2026-06-21T03:39:38Z</dcterms:modified>
  <cp:category/>
</cp:coreProperties>
</file>